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8" r:id="rId5"/>
    <p:sldId id="263" r:id="rId6"/>
    <p:sldId id="265" r:id="rId7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65E10-4FB4-4652-8A60-C4B5D0667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B3EA8F-E23D-4C74-BED1-93626ACFC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3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3EA8F-E23D-4C74-BED1-93626ACFC8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6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41CB-562E-7BCF-272E-9079554A8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38114-C5B0-8E31-0442-8B568471D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9AE5-71AE-5A2F-40BF-84EFCBE2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D21BE-3EBD-B95F-F4B3-EC1A6C24E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ECED-E552-CC2D-CEC6-A5D1BC9F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2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056D-3339-A6BB-1B78-70D449F30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F273C-8C34-099B-AB6F-50AAAAF4B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E0F1B-C6EA-EB7C-352B-82A712BE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ACEFC-479F-C1FE-7C50-7A01BE34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046B-FAEB-4ABB-910C-A59992D5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6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E240-775A-D13B-2657-C3ABAFE9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77437-14B5-EFB0-C2EE-C6C7DC92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9D85A-B202-2B80-3ECD-E40AC561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9ACB9-606F-A868-108C-823B7288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1605-0A9D-0741-4011-2E4FD54B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1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D2BD-03B8-C835-9384-DF7E4C90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B553-FA10-8D52-9C36-7EB9A8033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82C10-7355-91DD-9F80-6DAE178E7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57122-32B7-7643-BD89-F77C7336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FB51-1D4E-2401-CB9B-324C6EA0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CC9ED-4124-B5E4-2DC2-98CA2983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60A6-FE4B-CB2D-6CDC-F99BC42D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7BE42-8202-611F-AFB4-15A1C11E2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CB83C-3F0E-4292-343A-6594DF0FF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05247-B6FA-FEEB-4CCB-9B7F9C570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2A10B-77C5-84B6-4846-9BD1490E3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02003-F53E-FBAD-906C-FB93B4B0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F1C93-85D2-6310-BCC1-DF87F051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CDFD3-4284-5D0E-A44E-E3AEBBB9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A60B-E7F6-F54B-53D4-CA5D41C7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8E209-8055-5CC0-2C1C-80E51D1F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D3056-C5ED-02CF-405B-3AA312DF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6757D-F694-7435-5332-C4172951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02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45A56-39D5-C23B-1FF5-A2268283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8596E-7BFE-3CF6-559B-85E7CCD2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9261E-5F4D-0F10-9A41-BB3153C3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4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F5E4-A6D9-5ED1-2E70-6F6B8B15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EC9A8-ABE3-DF0B-02C0-9205F1F73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5B0CA-2D4E-9581-6CE6-41948EF69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EF892-C070-1BF2-DD59-7DB4FFE4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47DDF-0160-504A-C40A-AC27D553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C5F8D-EC8E-3E5D-6301-BA161DCE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4E1D-DDFF-C947-6F74-D7AD99B3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D61F6-DF8B-81A2-25DF-0CFA958D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904E7-2430-F3D4-E542-034350111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5D9EE-4110-843E-7746-8EA23E94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73B16-7569-8651-D40C-EDB96399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03750-746D-1D64-ECB8-CA253DAD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2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C31A-4969-85E9-4AF9-0AC36D0B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42344-BCC8-7E65-2E6C-E8A37C1DA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EAAA-7DC8-8A0A-2E7B-3A83DCC4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30572-B41F-6882-6051-6B37CBBD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B4BA7-C94B-0123-8F8C-092811FC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9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F5224-1FEC-46BC-59C4-35B666CA7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61866-FC26-81A2-2EFA-21859473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EDBC3-4310-2D68-E0B5-9E826A4D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BCDEF-307C-3D64-C190-0C44751E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A3C52-0085-71CD-0022-4D7863C4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4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005C6-8CCB-8FE2-7E58-4658EADB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7A00E-D96F-EE2F-9FFD-90BECBC84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B5140-B4D9-0386-4CBE-31977B9E1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6B680-D8B1-46D2-BE1D-D8FC433E4C8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0B0F5-0023-8D96-29E9-F2015EC0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A5126-1546-89EA-0948-4A70700F5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82A79-3F9F-4A13-A423-53F83D061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1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1F25FA-CAC8-4DED-3F4E-648A62B27925}"/>
              </a:ext>
            </a:extLst>
          </p:cNvPr>
          <p:cNvSpPr/>
          <p:nvPr/>
        </p:nvSpPr>
        <p:spPr>
          <a:xfrm>
            <a:off x="469127" y="373711"/>
            <a:ext cx="11441927" cy="6146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BB25E0F5-A152-101A-F869-C867B5D52A58}"/>
              </a:ext>
            </a:extLst>
          </p:cNvPr>
          <p:cNvSpPr/>
          <p:nvPr/>
        </p:nvSpPr>
        <p:spPr>
          <a:xfrm>
            <a:off x="4081492" y="1126957"/>
            <a:ext cx="3714971" cy="4604085"/>
          </a:xfrm>
          <a:custGeom>
            <a:avLst/>
            <a:gdLst/>
            <a:ahLst/>
            <a:cxnLst/>
            <a:rect l="l" t="t" r="r" b="b"/>
            <a:pathLst>
              <a:path w="8469941" h="11225528">
                <a:moveTo>
                  <a:pt x="0" y="0"/>
                </a:moveTo>
                <a:lnTo>
                  <a:pt x="8469940" y="0"/>
                </a:lnTo>
                <a:lnTo>
                  <a:pt x="8469940" y="11225528"/>
                </a:lnTo>
                <a:lnTo>
                  <a:pt x="0" y="1122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</a14:imgLayer>
                  </a14:imgProps>
                </a:ext>
              </a:extLst>
            </a:blip>
            <a:stretch>
              <a:fillRect r="-11015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59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D5D8577-24E9-D4E1-245E-EF37B503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86DD674-612C-287B-C3B5-04DAB3DD79C0}"/>
              </a:ext>
            </a:extLst>
          </p:cNvPr>
          <p:cNvSpPr/>
          <p:nvPr/>
        </p:nvSpPr>
        <p:spPr>
          <a:xfrm>
            <a:off x="990189" y="2189622"/>
            <a:ext cx="6293862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Marine-Foul-Detect</a:t>
            </a:r>
            <a:endParaRPr lang="en-US"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5A1516B-5A7C-5F74-E53B-D5C444514BD8}"/>
              </a:ext>
            </a:extLst>
          </p:cNvPr>
          <p:cNvSpPr/>
          <p:nvPr/>
        </p:nvSpPr>
        <p:spPr>
          <a:xfrm>
            <a:off x="1043864" y="2907767"/>
            <a:ext cx="629386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latin typeface="Geist" pitchFamily="34" charset="0"/>
                <a:ea typeface="Geist" pitchFamily="34" charset="-122"/>
                <a:cs typeface="Geist" pitchFamily="34" charset="-120"/>
              </a:rPr>
              <a:t>Leveraging Artificial Intelligence for Enhanced Naval Operations</a:t>
            </a:r>
            <a:endParaRPr lang="en-US" sz="17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289CA-F8D7-1EC9-A8A2-C0FD08FAB889}"/>
              </a:ext>
            </a:extLst>
          </p:cNvPr>
          <p:cNvGrpSpPr/>
          <p:nvPr/>
        </p:nvGrpSpPr>
        <p:grpSpPr>
          <a:xfrm>
            <a:off x="10729239" y="0"/>
            <a:ext cx="1612850" cy="913164"/>
            <a:chOff x="0" y="0"/>
            <a:chExt cx="3189732" cy="1716355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4B978A2-2831-CBDF-9F40-9EF35CCA2B22}"/>
                </a:ext>
              </a:extLst>
            </p:cNvPr>
            <p:cNvSpPr/>
            <p:nvPr/>
          </p:nvSpPr>
          <p:spPr>
            <a:xfrm>
              <a:off x="0" y="0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38E8E6-F13B-22C7-F921-2C9814DC005B}"/>
              </a:ext>
            </a:extLst>
          </p:cNvPr>
          <p:cNvSpPr txBox="1"/>
          <p:nvPr/>
        </p:nvSpPr>
        <p:spPr>
          <a:xfrm>
            <a:off x="805400" y="321379"/>
            <a:ext cx="7057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Garamond Bold"/>
                <a:ea typeface="Garamond Bold"/>
                <a:cs typeface="Garamond Bold"/>
                <a:sym typeface="Garamond Bold"/>
              </a:rPr>
              <a:t>CODE VERSE</a:t>
            </a:r>
            <a:r>
              <a:rPr lang="en-US" sz="4000" b="1" dirty="0"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  <a:r>
              <a:rPr lang="en-US" sz="3600" b="1" dirty="0">
                <a:latin typeface="Garamond Bold"/>
                <a:ea typeface="Garamond Bold"/>
                <a:cs typeface="Garamond Bold"/>
                <a:sym typeface="Garamond Bold"/>
              </a:rPr>
              <a:t>HACKATHON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2025</a:t>
            </a:r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7A4CF-F54E-D1E6-3C24-66D25964A687}"/>
              </a:ext>
            </a:extLst>
          </p:cNvPr>
          <p:cNvSpPr txBox="1"/>
          <p:nvPr/>
        </p:nvSpPr>
        <p:spPr>
          <a:xfrm>
            <a:off x="990189" y="3986050"/>
            <a:ext cx="500831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Team Swanay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Rudrapratap </a:t>
            </a:r>
            <a:r>
              <a:rPr lang="en-US" sz="2000" dirty="0" err="1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Paghal</a:t>
            </a: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, SY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Shiva Pachade, SY</a:t>
            </a:r>
          </a:p>
          <a:p>
            <a:pPr marL="342900" indent="-342900">
              <a:buAutoNum type="arabicPeriod" startAt="3"/>
            </a:pP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Sandesh Nakade, SY</a:t>
            </a:r>
          </a:p>
          <a:p>
            <a:pPr marL="342900" indent="-342900">
              <a:buAutoNum type="arabicPeriod" startAt="3"/>
            </a:pP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Sanskruti </a:t>
            </a:r>
            <a:r>
              <a:rPr lang="en-US" sz="2000" dirty="0" err="1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Dhakar</a:t>
            </a:r>
            <a:r>
              <a:rPr lang="en-US" sz="2000" dirty="0"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, SY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E0C48D-3BF6-BEC4-5303-F8F255363644}"/>
              </a:ext>
            </a:extLst>
          </p:cNvPr>
          <p:cNvGrpSpPr/>
          <p:nvPr/>
        </p:nvGrpSpPr>
        <p:grpSpPr>
          <a:xfrm>
            <a:off x="272716" y="91701"/>
            <a:ext cx="717473" cy="1084338"/>
            <a:chOff x="0" y="0"/>
            <a:chExt cx="1245108" cy="1702943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4F3AE13-A8E5-B65E-6D8C-94A923D6CBD7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" b="-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648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728097-D972-3A2E-1BD5-78A4ABE0D062}"/>
              </a:ext>
            </a:extLst>
          </p:cNvPr>
          <p:cNvSpPr/>
          <p:nvPr/>
        </p:nvSpPr>
        <p:spPr>
          <a:xfrm>
            <a:off x="6971688" y="2956395"/>
            <a:ext cx="4767943" cy="1644101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B79DE3-16D7-888F-C8FC-064C692ADD32}"/>
              </a:ext>
            </a:extLst>
          </p:cNvPr>
          <p:cNvSpPr/>
          <p:nvPr/>
        </p:nvSpPr>
        <p:spPr>
          <a:xfrm>
            <a:off x="6946237" y="1393630"/>
            <a:ext cx="4793394" cy="149178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77C6E7-39BA-341D-4A27-C1BE7DDD664D}"/>
              </a:ext>
            </a:extLst>
          </p:cNvPr>
          <p:cNvSpPr/>
          <p:nvPr/>
        </p:nvSpPr>
        <p:spPr>
          <a:xfrm>
            <a:off x="3159579" y="2668451"/>
            <a:ext cx="3313779" cy="196886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843487-1540-8EEC-CCD6-D5B923D10183}"/>
              </a:ext>
            </a:extLst>
          </p:cNvPr>
          <p:cNvSpPr/>
          <p:nvPr/>
        </p:nvSpPr>
        <p:spPr>
          <a:xfrm>
            <a:off x="364673" y="2668450"/>
            <a:ext cx="2574592" cy="196886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D443BF-B37D-A92D-D69C-645DF9EA92CE}"/>
              </a:ext>
            </a:extLst>
          </p:cNvPr>
          <p:cNvSpPr/>
          <p:nvPr/>
        </p:nvSpPr>
        <p:spPr>
          <a:xfrm>
            <a:off x="364674" y="1395049"/>
            <a:ext cx="6108684" cy="111860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F3544-5ABC-B708-128D-5044C30EC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977" y="7558686"/>
            <a:ext cx="3268244" cy="68695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9F75916-3822-9AEF-F37C-178DBFF48AE0}"/>
              </a:ext>
            </a:extLst>
          </p:cNvPr>
          <p:cNvSpPr/>
          <p:nvPr/>
        </p:nvSpPr>
        <p:spPr>
          <a:xfrm>
            <a:off x="4922467" y="283358"/>
            <a:ext cx="206156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1F19456-0D5B-366E-31AC-A241EDB5703A}"/>
              </a:ext>
            </a:extLst>
          </p:cNvPr>
          <p:cNvSpPr/>
          <p:nvPr/>
        </p:nvSpPr>
        <p:spPr>
          <a:xfrm>
            <a:off x="4377719" y="638993"/>
            <a:ext cx="5187937" cy="601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ist Bold" pitchFamily="34" charset="0"/>
                <a:ea typeface="Geist Bold" pitchFamily="34" charset="-122"/>
              </a:rPr>
              <a:t>Marine-Foul-Detect</a:t>
            </a:r>
            <a:endParaRPr lang="en-US" sz="2800" dirty="0">
              <a:solidFill>
                <a:srgbClr val="FFFFCC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EE0AED0-2750-0C1A-D118-395366A5384F}"/>
              </a:ext>
            </a:extLst>
          </p:cNvPr>
          <p:cNvSpPr/>
          <p:nvPr/>
        </p:nvSpPr>
        <p:spPr>
          <a:xfrm>
            <a:off x="452369" y="1780542"/>
            <a:ext cx="5905431" cy="142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ea typeface="Geist" pitchFamily="34" charset="-122"/>
                <a:cs typeface="Geist" pitchFamily="34" charset="-120"/>
              </a:rPr>
              <a:t>Marine fouling (biofouling) — the accumulation of algae, barnacles, and other organisms on ship hulls and underwater structures — causes serious operational and economic problems. </a:t>
            </a:r>
            <a:endParaRPr lang="en-US" sz="1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B038EFC-F9A8-B439-0346-C950ECAD88C0}"/>
              </a:ext>
            </a:extLst>
          </p:cNvPr>
          <p:cNvSpPr/>
          <p:nvPr/>
        </p:nvSpPr>
        <p:spPr>
          <a:xfrm>
            <a:off x="603953" y="6302219"/>
            <a:ext cx="11217933" cy="401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innovation provides a critical advancement in addressing significant challenges faced by the Indian Navy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AF3099-A6B4-F397-73D5-DF5992E16568}"/>
              </a:ext>
            </a:extLst>
          </p:cNvPr>
          <p:cNvGrpSpPr/>
          <p:nvPr/>
        </p:nvGrpSpPr>
        <p:grpSpPr>
          <a:xfrm>
            <a:off x="-2062727" y="154534"/>
            <a:ext cx="933831" cy="1277208"/>
            <a:chOff x="0" y="0"/>
            <a:chExt cx="1245108" cy="1702943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45A6F5A-9DAD-8BF4-3831-BB95654BF224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" b="-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EEAD05-4F4F-0D83-27F0-030093E8E598}"/>
              </a:ext>
            </a:extLst>
          </p:cNvPr>
          <p:cNvGrpSpPr/>
          <p:nvPr/>
        </p:nvGrpSpPr>
        <p:grpSpPr>
          <a:xfrm>
            <a:off x="10175374" y="154534"/>
            <a:ext cx="2176847" cy="1077219"/>
            <a:chOff x="0" y="0"/>
            <a:chExt cx="3189732" cy="171635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52580DA-C6DC-E4F2-9714-F8FE1E9FFACC}"/>
                </a:ext>
              </a:extLst>
            </p:cNvPr>
            <p:cNvSpPr/>
            <p:nvPr/>
          </p:nvSpPr>
          <p:spPr>
            <a:xfrm>
              <a:off x="0" y="0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B48409-9CD7-CBCD-EF0E-3273D3D88112}"/>
              </a:ext>
            </a:extLst>
          </p:cNvPr>
          <p:cNvSpPr txBox="1"/>
          <p:nvPr/>
        </p:nvSpPr>
        <p:spPr>
          <a:xfrm>
            <a:off x="364674" y="2688499"/>
            <a:ext cx="25009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Garamond Bold" panose="02020804030307010803" pitchFamily="18" charset="0"/>
              </a:rPr>
              <a:t>2. Why It’s Important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Increases drag, reducing vessel speed and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Leads to higher fuel consumption and operating costs.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Poses biosecurity risks by spreading invasive species.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C997F-6F59-5D6D-160E-E88F80B7CA76}"/>
              </a:ext>
            </a:extLst>
          </p:cNvPr>
          <p:cNvSpPr txBox="1"/>
          <p:nvPr/>
        </p:nvSpPr>
        <p:spPr>
          <a:xfrm>
            <a:off x="3194603" y="2647612"/>
            <a:ext cx="32508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Garamond Bold" panose="02020804030307010803" pitchFamily="18" charset="0"/>
              </a:rPr>
              <a:t>3. Key Facts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Biofouling can increase a ship’s fuel consumption by up to 40%.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The global shipping industry loses billions annually due to fouling-related costs.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Indian Navy and commercial fleets spend huge resources on manual inspections and cleaning.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E6547-6876-A3C5-6F37-A092FD58E549}"/>
              </a:ext>
            </a:extLst>
          </p:cNvPr>
          <p:cNvSpPr txBox="1"/>
          <p:nvPr/>
        </p:nvSpPr>
        <p:spPr>
          <a:xfrm>
            <a:off x="345137" y="1441801"/>
            <a:ext cx="19828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 Bold" panose="02020804030307010803" pitchFamily="18" charset="0"/>
                <a:ea typeface="Geist" pitchFamily="34" charset="-122"/>
                <a:cs typeface="Geist" pitchFamily="34" charset="-120"/>
              </a:rPr>
              <a:t>1. Real-world Issue 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05AAD-5E3F-24D9-49CB-2E2212900C39}"/>
              </a:ext>
            </a:extLst>
          </p:cNvPr>
          <p:cNvSpPr txBox="1"/>
          <p:nvPr/>
        </p:nvSpPr>
        <p:spPr>
          <a:xfrm>
            <a:off x="6971688" y="1692546"/>
            <a:ext cx="47679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Marine-Foul-Detect is an AI-powered image analysis system that automatically detects, classifies, and measures marine biofouling on ship hulls and underwater </a:t>
            </a:r>
            <a:r>
              <a:rPr lang="en-US" sz="1400" dirty="0" err="1">
                <a:ea typeface="Geist" panose="020B0604020202020204" charset="0"/>
                <a:cs typeface="Geist" panose="020B0604020202020204" charset="0"/>
              </a:rPr>
              <a:t>structures.Unlike</a:t>
            </a: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 manual inspection, it is faster, accurate even in murky water, and fully automated.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415DDE-2946-0973-6450-CA6E2220FDB5}"/>
              </a:ext>
            </a:extLst>
          </p:cNvPr>
          <p:cNvSpPr txBox="1"/>
          <p:nvPr/>
        </p:nvSpPr>
        <p:spPr>
          <a:xfrm>
            <a:off x="603953" y="4971516"/>
            <a:ext cx="54920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 Bold" panose="02020804030307010803" pitchFamily="18" charset="0"/>
                <a:ea typeface="Geist" panose="020B0604020202020204" charset="0"/>
                <a:cs typeface="Geist" panose="020B0604020202020204" charset="0"/>
              </a:rPr>
              <a:t>Target Audience: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1. Indian Navy.  2. commercial shipping operators.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3. offshore platform maintainers.</a:t>
            </a: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8F44E30C-39AB-7CA2-1E6C-504224CE7B19}"/>
              </a:ext>
            </a:extLst>
          </p:cNvPr>
          <p:cNvSpPr/>
          <p:nvPr/>
        </p:nvSpPr>
        <p:spPr>
          <a:xfrm>
            <a:off x="379398" y="4843671"/>
            <a:ext cx="6079235" cy="1135598"/>
          </a:xfrm>
          <a:prstGeom prst="fram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78673B-982C-F2D9-3243-A3838F47E306}"/>
              </a:ext>
            </a:extLst>
          </p:cNvPr>
          <p:cNvSpPr txBox="1"/>
          <p:nvPr/>
        </p:nvSpPr>
        <p:spPr>
          <a:xfrm>
            <a:off x="6984034" y="1402781"/>
            <a:ext cx="1787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aramond Bold" panose="02020804030307010803" pitchFamily="18" charset="0"/>
              </a:rPr>
              <a:t>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35AE0B-019F-D40D-CA59-4D97D0A52883}"/>
              </a:ext>
            </a:extLst>
          </p:cNvPr>
          <p:cNvSpPr txBox="1"/>
          <p:nvPr/>
        </p:nvSpPr>
        <p:spPr>
          <a:xfrm>
            <a:off x="6984034" y="2969280"/>
            <a:ext cx="47679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 Bold" panose="02020804030307010803" pitchFamily="18" charset="0"/>
                <a:ea typeface="Geist" panose="020B0604020202020204" charset="0"/>
                <a:cs typeface="Geist" panose="020B0604020202020204" charset="0"/>
              </a:rPr>
              <a:t>What It Provides Feature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Detection &amp; Classification → Finds fouling type (barnacles, algae, mussels).Feature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Density Estimation → Calculates % coverage, maps to </a:t>
            </a:r>
            <a:r>
              <a:rPr lang="en-US" sz="1400" dirty="0" err="1">
                <a:ea typeface="Geist" panose="020B0604020202020204" charset="0"/>
                <a:cs typeface="Geist" panose="020B0604020202020204" charset="0"/>
              </a:rPr>
              <a:t>LoF</a:t>
            </a: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 risk levels.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ea typeface="Geist" panose="020B0604020202020204" charset="0"/>
                <a:cs typeface="Geist" panose="020B0604020202020204" charset="0"/>
              </a:rPr>
              <a:t>Feature Automated Reporting → Gives inspection overlays + downloadable report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58DFF1-2966-1377-4D59-3CB8EF00DB17}"/>
              </a:ext>
            </a:extLst>
          </p:cNvPr>
          <p:cNvGrpSpPr/>
          <p:nvPr/>
        </p:nvGrpSpPr>
        <p:grpSpPr>
          <a:xfrm>
            <a:off x="118068" y="142672"/>
            <a:ext cx="736735" cy="1025700"/>
            <a:chOff x="0" y="0"/>
            <a:chExt cx="1245108" cy="1702943"/>
          </a:xfrm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3ED76140-98D3-2BF0-5ACA-FA456FC0B74E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" b="-26"/>
              </a:stretch>
            </a:blipFill>
          </p:spPr>
          <p:txBody>
            <a:bodyPr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D2F85D5-02CE-A649-E30E-CBC67E8D21CD}"/>
              </a:ext>
            </a:extLst>
          </p:cNvPr>
          <p:cNvSpPr txBox="1"/>
          <p:nvPr/>
        </p:nvSpPr>
        <p:spPr>
          <a:xfrm>
            <a:off x="7085575" y="4949805"/>
            <a:ext cx="46664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 Bold" panose="02020804030307010803" pitchFamily="18" charset="0"/>
              </a:rPr>
              <a:t>Impact</a:t>
            </a:r>
          </a:p>
          <a:p>
            <a:r>
              <a:rPr lang="en-US" sz="1400" dirty="0"/>
              <a:t>Cuts inspection time and reduces fuel-cost estimation errors by up to 40%</a:t>
            </a:r>
          </a:p>
        </p:txBody>
      </p:sp>
      <p:sp>
        <p:nvSpPr>
          <p:cNvPr id="30" name="Double Bracket 29">
            <a:extLst>
              <a:ext uri="{FF2B5EF4-FFF2-40B4-BE49-F238E27FC236}">
                <a16:creationId xmlns:a16="http://schemas.microsoft.com/office/drawing/2014/main" id="{35A94E40-898A-F197-4D2F-20148DF0E2D4}"/>
              </a:ext>
            </a:extLst>
          </p:cNvPr>
          <p:cNvSpPr/>
          <p:nvPr/>
        </p:nvSpPr>
        <p:spPr>
          <a:xfrm>
            <a:off x="6984034" y="4843671"/>
            <a:ext cx="4755597" cy="113559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3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2DAE-4540-FC77-DBF5-8F4F63BB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990" y="456845"/>
            <a:ext cx="5984020" cy="8991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TECHNICAL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APPROACH</a:t>
            </a:r>
            <a:br>
              <a:rPr lang="en-US" sz="3600" b="1" dirty="0">
                <a:solidFill>
                  <a:schemeClr val="bg2">
                    <a:lumMod val="2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</a:br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3734C7-AB3B-C946-3597-A66DE54C2FDF}"/>
              </a:ext>
            </a:extLst>
          </p:cNvPr>
          <p:cNvGrpSpPr/>
          <p:nvPr/>
        </p:nvGrpSpPr>
        <p:grpSpPr>
          <a:xfrm>
            <a:off x="358940" y="135852"/>
            <a:ext cx="746665" cy="999983"/>
            <a:chOff x="0" y="0"/>
            <a:chExt cx="1245108" cy="1702943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13543242-62FF-F272-2BD4-830935F3FDF4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" b="-26"/>
              </a:stretch>
            </a:blipFill>
          </p:spPr>
          <p:txBody>
            <a:bodyPr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8B5860-6D63-7BE6-02BE-FDDA154FCEBC}"/>
              </a:ext>
            </a:extLst>
          </p:cNvPr>
          <p:cNvGrpSpPr/>
          <p:nvPr/>
        </p:nvGrpSpPr>
        <p:grpSpPr>
          <a:xfrm>
            <a:off x="10376807" y="196610"/>
            <a:ext cx="1815193" cy="799433"/>
            <a:chOff x="0" y="0"/>
            <a:chExt cx="3189732" cy="171635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CE6899D-BC56-226C-2FE6-77C839D503BA}"/>
                </a:ext>
              </a:extLst>
            </p:cNvPr>
            <p:cNvSpPr/>
            <p:nvPr/>
          </p:nvSpPr>
          <p:spPr>
            <a:xfrm>
              <a:off x="0" y="0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6EA7239-167A-FBEC-8FEA-7606106B2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4"/>
          <a:stretch>
            <a:fillRect/>
          </a:stretch>
        </p:blipFill>
        <p:spPr>
          <a:xfrm>
            <a:off x="299120" y="1973811"/>
            <a:ext cx="5004399" cy="3867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3C4A9C-9DCD-4231-6C10-959E724CDA3A}"/>
              </a:ext>
            </a:extLst>
          </p:cNvPr>
          <p:cNvSpPr txBox="1"/>
          <p:nvPr/>
        </p:nvSpPr>
        <p:spPr>
          <a:xfrm>
            <a:off x="1789045" y="1541025"/>
            <a:ext cx="22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 Bold" panose="02020804030307010803" pitchFamily="18" charset="0"/>
              </a:rPr>
              <a:t>Technology Used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C33A60-082A-5982-DF0A-63529E39F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989" y="1135834"/>
            <a:ext cx="5456071" cy="542523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02D4B0-2A7B-C31A-7171-BE23E392476C}"/>
              </a:ext>
            </a:extLst>
          </p:cNvPr>
          <p:cNvCxnSpPr>
            <a:cxnSpLocks/>
          </p:cNvCxnSpPr>
          <p:nvPr/>
        </p:nvCxnSpPr>
        <p:spPr>
          <a:xfrm>
            <a:off x="5815012" y="1355977"/>
            <a:ext cx="0" cy="50711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8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5ED332-637A-182D-CFB5-0ED3D74F851C}"/>
              </a:ext>
            </a:extLst>
          </p:cNvPr>
          <p:cNvSpPr/>
          <p:nvPr/>
        </p:nvSpPr>
        <p:spPr>
          <a:xfrm>
            <a:off x="3420837" y="1803383"/>
            <a:ext cx="2675164" cy="302171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17FD62-4A0D-2262-5CB0-800E7CE1FD53}"/>
              </a:ext>
            </a:extLst>
          </p:cNvPr>
          <p:cNvSpPr/>
          <p:nvPr/>
        </p:nvSpPr>
        <p:spPr>
          <a:xfrm>
            <a:off x="316810" y="5020788"/>
            <a:ext cx="5779190" cy="1151395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3DB2C83-5FBC-99D4-8E68-8914510B4B5F}"/>
              </a:ext>
            </a:extLst>
          </p:cNvPr>
          <p:cNvSpPr/>
          <p:nvPr/>
        </p:nvSpPr>
        <p:spPr>
          <a:xfrm>
            <a:off x="316810" y="1803383"/>
            <a:ext cx="2994375" cy="302171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7BCAA92-8EB0-535A-C8A0-00E76194F1AA}"/>
              </a:ext>
            </a:extLst>
          </p:cNvPr>
          <p:cNvSpPr/>
          <p:nvPr/>
        </p:nvSpPr>
        <p:spPr>
          <a:xfrm>
            <a:off x="4424342" y="233323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Chapter 3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A5598E0-7493-3C7E-A78F-B0C08F4246E8}"/>
              </a:ext>
            </a:extLst>
          </p:cNvPr>
          <p:cNvSpPr/>
          <p:nvPr/>
        </p:nvSpPr>
        <p:spPr>
          <a:xfrm>
            <a:off x="3122957" y="453758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Feasibility And Viability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ADCD3E6-CADC-DEC8-81D9-68E24DC5FAD7}"/>
              </a:ext>
            </a:extLst>
          </p:cNvPr>
          <p:cNvSpPr/>
          <p:nvPr/>
        </p:nvSpPr>
        <p:spPr>
          <a:xfrm>
            <a:off x="817737" y="1327409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development of this AI prototype is highly feasible, even within hackathon constraints, due to several key factors: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EAE91F8-D741-D381-5889-9BD63BCD38F9}"/>
              </a:ext>
            </a:extLst>
          </p:cNvPr>
          <p:cNvSpPr/>
          <p:nvPr/>
        </p:nvSpPr>
        <p:spPr>
          <a:xfrm>
            <a:off x="316811" y="3920840"/>
            <a:ext cx="2474752" cy="34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AE30345-61B9-C037-3670-111EC37DF021}"/>
              </a:ext>
            </a:extLst>
          </p:cNvPr>
          <p:cNvSpPr/>
          <p:nvPr/>
        </p:nvSpPr>
        <p:spPr>
          <a:xfrm>
            <a:off x="316810" y="4425427"/>
            <a:ext cx="3226958" cy="1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F6A7894-480A-DADA-AD85-8DDF9AAA7D20}"/>
              </a:ext>
            </a:extLst>
          </p:cNvPr>
          <p:cNvSpPr/>
          <p:nvPr/>
        </p:nvSpPr>
        <p:spPr>
          <a:xfrm>
            <a:off x="4344773" y="3503050"/>
            <a:ext cx="2994375" cy="34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4CD398-6A76-4551-5F67-FCFBE1793806}"/>
              </a:ext>
            </a:extLst>
          </p:cNvPr>
          <p:cNvSpPr/>
          <p:nvPr/>
        </p:nvSpPr>
        <p:spPr>
          <a:xfrm>
            <a:off x="4344773" y="4043436"/>
            <a:ext cx="3226958" cy="138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71BB2333-9D32-33B8-7002-5024DAA04313}"/>
              </a:ext>
            </a:extLst>
          </p:cNvPr>
          <p:cNvSpPr/>
          <p:nvPr/>
        </p:nvSpPr>
        <p:spPr>
          <a:xfrm>
            <a:off x="8951426" y="3746767"/>
            <a:ext cx="2474752" cy="34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FE79552-47CA-3CDB-6F13-32ED8006F5AD}"/>
              </a:ext>
            </a:extLst>
          </p:cNvPr>
          <p:cNvSpPr/>
          <p:nvPr/>
        </p:nvSpPr>
        <p:spPr>
          <a:xfrm>
            <a:off x="8963454" y="4240373"/>
            <a:ext cx="3226958" cy="1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C9D183-546D-D4C0-30E5-BBAE75D48CE1}"/>
              </a:ext>
            </a:extLst>
          </p:cNvPr>
          <p:cNvGrpSpPr/>
          <p:nvPr/>
        </p:nvGrpSpPr>
        <p:grpSpPr>
          <a:xfrm>
            <a:off x="358940" y="135852"/>
            <a:ext cx="746665" cy="999983"/>
            <a:chOff x="0" y="0"/>
            <a:chExt cx="1245108" cy="1702943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03650917-6FD9-7A2F-CCA6-C8378D667DC0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" b="-26"/>
              </a:stretch>
            </a:blipFill>
          </p:spPr>
          <p:txBody>
            <a:bodyPr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680BE89-9330-924E-FA26-4EBEBEB9FFFF}"/>
              </a:ext>
            </a:extLst>
          </p:cNvPr>
          <p:cNvGrpSpPr/>
          <p:nvPr/>
        </p:nvGrpSpPr>
        <p:grpSpPr>
          <a:xfrm>
            <a:off x="10230029" y="196610"/>
            <a:ext cx="1961971" cy="1039750"/>
            <a:chOff x="0" y="0"/>
            <a:chExt cx="3189732" cy="1716355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65206053-3E69-77C2-B7DE-530F1761F4D9}"/>
                </a:ext>
              </a:extLst>
            </p:cNvPr>
            <p:cNvSpPr/>
            <p:nvPr/>
          </p:nvSpPr>
          <p:spPr>
            <a:xfrm>
              <a:off x="0" y="0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59FB661-6156-233C-4E82-2721736A9C7B}"/>
              </a:ext>
            </a:extLst>
          </p:cNvPr>
          <p:cNvSpPr txBox="1"/>
          <p:nvPr/>
        </p:nvSpPr>
        <p:spPr>
          <a:xfrm>
            <a:off x="527796" y="1933507"/>
            <a:ext cx="258279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Garamond Bold" panose="02020804030307010803" pitchFamily="18" charset="0"/>
              </a:rPr>
              <a:t>Technical Feasibility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YOLOv8 + OpenCV can detect and segment fouling on ship hulls.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Pretrained models can be fine-tuned for barnacles, algae, and mussels quickly.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Streamlit</a:t>
            </a:r>
            <a:r>
              <a:rPr lang="en-US" sz="1600" dirty="0"/>
              <a:t> UI allows easy demo of annotated images.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709944-ADDB-99B5-84A7-13122EE77A7E}"/>
              </a:ext>
            </a:extLst>
          </p:cNvPr>
          <p:cNvSpPr txBox="1"/>
          <p:nvPr/>
        </p:nvSpPr>
        <p:spPr>
          <a:xfrm>
            <a:off x="423310" y="5054177"/>
            <a:ext cx="56019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Garamond Bold" panose="02020804030307010803" pitchFamily="18" charset="0"/>
              </a:rPr>
              <a:t>Operational Feasibility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⚙Simple pipeline: Image → AI → </a:t>
            </a:r>
            <a:r>
              <a:rPr lang="en-US" sz="1600" dirty="0" err="1"/>
              <a:t>Dashboard.Generates</a:t>
            </a:r>
            <a:r>
              <a:rPr lang="en-US" sz="1600" dirty="0"/>
              <a:t> automatic inspection reports, reducing human bias.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Can integrate with existing Navy or shipping inspections.</a:t>
            </a:r>
          </a:p>
        </p:txBody>
      </p:sp>
      <p:sp>
        <p:nvSpPr>
          <p:cNvPr id="33" name="Double Bracket 32">
            <a:extLst>
              <a:ext uri="{FF2B5EF4-FFF2-40B4-BE49-F238E27FC236}">
                <a16:creationId xmlns:a16="http://schemas.microsoft.com/office/drawing/2014/main" id="{6CC20D9B-6651-0488-B9B1-4EAFF122D9CA}"/>
              </a:ext>
            </a:extLst>
          </p:cNvPr>
          <p:cNvSpPr/>
          <p:nvPr/>
        </p:nvSpPr>
        <p:spPr>
          <a:xfrm>
            <a:off x="6634579" y="1803384"/>
            <a:ext cx="5058010" cy="252368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984203-55FE-7EE3-8225-38919957DCD3}"/>
              </a:ext>
            </a:extLst>
          </p:cNvPr>
          <p:cNvSpPr txBox="1"/>
          <p:nvPr/>
        </p:nvSpPr>
        <p:spPr>
          <a:xfrm>
            <a:off x="7137708" y="1934606"/>
            <a:ext cx="425859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 Bold" panose="02020804030307010803" pitchFamily="18" charset="0"/>
              </a:rPr>
              <a:t>Potential Challenges &amp; Risks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Limitations: Few labeled underwater images → may affect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Image Quality: Murky water, low light, occlusion can reduce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Scalability: Large datasets / real-time use may need more compute.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Trust: Navy/industry may doubt AI accuracy vs manual checks.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112CF5-41F5-FCBF-2D1B-99519DAA744D}"/>
              </a:ext>
            </a:extLst>
          </p:cNvPr>
          <p:cNvSpPr txBox="1"/>
          <p:nvPr/>
        </p:nvSpPr>
        <p:spPr>
          <a:xfrm>
            <a:off x="3561986" y="1910593"/>
            <a:ext cx="24632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Garamond Bold" panose="02020804030307010803" pitchFamily="18" charset="0"/>
              </a:rPr>
              <a:t>Economic Feasibility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Fully open-source tools: Python, </a:t>
            </a:r>
            <a:r>
              <a:rPr lang="en-US" sz="1600" dirty="0" err="1"/>
              <a:t>PyTorch</a:t>
            </a:r>
            <a:r>
              <a:rPr lang="en-US" sz="1600" dirty="0"/>
              <a:t>, YOLOv8, OpenCV, </a:t>
            </a:r>
            <a:r>
              <a:rPr lang="en-US" sz="1600" dirty="0" err="1"/>
              <a:t>Streamlit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No licensing cost, only free compute (</a:t>
            </a:r>
            <a:r>
              <a:rPr lang="en-US" sz="1600" dirty="0" err="1"/>
              <a:t>Colab</a:t>
            </a:r>
            <a:r>
              <a:rPr lang="en-US" sz="1600" dirty="0"/>
              <a:t>/Kaggle).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Can scale later using cloud with minimal cost.</a:t>
            </a:r>
          </a:p>
          <a:p>
            <a:endParaRPr lang="en-US" dirty="0"/>
          </a:p>
        </p:txBody>
      </p:sp>
      <p:sp>
        <p:nvSpPr>
          <p:cNvPr id="37" name="Flowchart: Predefined Process 36">
            <a:extLst>
              <a:ext uri="{FF2B5EF4-FFF2-40B4-BE49-F238E27FC236}">
                <a16:creationId xmlns:a16="http://schemas.microsoft.com/office/drawing/2014/main" id="{55D2B592-0B6D-45A5-2F04-EA59E75F50BD}"/>
              </a:ext>
            </a:extLst>
          </p:cNvPr>
          <p:cNvSpPr/>
          <p:nvPr/>
        </p:nvSpPr>
        <p:spPr>
          <a:xfrm>
            <a:off x="6634579" y="4547507"/>
            <a:ext cx="5058010" cy="1701141"/>
          </a:xfrm>
          <a:prstGeom prst="flowChartPredefined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981B6-4B34-E18A-101F-0C0B4EE16DD9}"/>
              </a:ext>
            </a:extLst>
          </p:cNvPr>
          <p:cNvSpPr txBox="1"/>
          <p:nvPr/>
        </p:nvSpPr>
        <p:spPr>
          <a:xfrm>
            <a:off x="7050401" y="4682768"/>
            <a:ext cx="443320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 Bold" panose="02020804030307010803" pitchFamily="18" charset="0"/>
              </a:rPr>
              <a:t>Strategies to Overcome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data augmentation and pretrained YOLOv8 to handle limited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OpenCV preprocessing (denoise, color correction) for murky images.</a:t>
            </a:r>
          </a:p>
        </p:txBody>
      </p:sp>
    </p:spTree>
    <p:extLst>
      <p:ext uri="{BB962C8B-B14F-4D97-AF65-F5344CB8AC3E}">
        <p14:creationId xmlns:p14="http://schemas.microsoft.com/office/powerpoint/2010/main" val="310577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9D0A29E-7BDD-D933-8DDE-FF241735E216}"/>
              </a:ext>
            </a:extLst>
          </p:cNvPr>
          <p:cNvSpPr/>
          <p:nvPr/>
        </p:nvSpPr>
        <p:spPr>
          <a:xfrm>
            <a:off x="5155623" y="178882"/>
            <a:ext cx="1880753" cy="20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Chapter 6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3920276-5C25-2D53-FA7E-B494B1B3E147}"/>
              </a:ext>
            </a:extLst>
          </p:cNvPr>
          <p:cNvSpPr/>
          <p:nvPr/>
        </p:nvSpPr>
        <p:spPr>
          <a:xfrm>
            <a:off x="3159508" y="554451"/>
            <a:ext cx="5872977" cy="40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410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 &amp; BENIFITS</a:t>
            </a:r>
            <a:endParaRPr lang="en-US" sz="4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007B24D-27D3-74C9-D9FD-311E624C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42" y="1504583"/>
            <a:ext cx="376133" cy="37613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9B2949C-8634-A2D6-8862-EB709F74DB4B}"/>
              </a:ext>
            </a:extLst>
          </p:cNvPr>
          <p:cNvSpPr/>
          <p:nvPr/>
        </p:nvSpPr>
        <p:spPr>
          <a:xfrm>
            <a:off x="702920" y="1970650"/>
            <a:ext cx="1880753" cy="20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Reduced Fuel Costs</a:t>
            </a: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7873332-EEBE-6D49-BBD7-908BE19528F6}"/>
              </a:ext>
            </a:extLst>
          </p:cNvPr>
          <p:cNvSpPr/>
          <p:nvPr/>
        </p:nvSpPr>
        <p:spPr>
          <a:xfrm>
            <a:off x="668359" y="2286781"/>
            <a:ext cx="4948669" cy="5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latin typeface="Geist" pitchFamily="34" charset="0"/>
                <a:ea typeface="Geist" pitchFamily="34" charset="-122"/>
                <a:cs typeface="Geist" pitchFamily="34" charset="-120"/>
              </a:rPr>
              <a:t>Up to 20% savings through optimized hull cleaning, directly impacting operational budgets.</a:t>
            </a:r>
            <a:endParaRPr lang="en-US" sz="14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88C4D4F1-BD08-3B20-7EEE-62B02BD23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10" y="2987850"/>
            <a:ext cx="376133" cy="376133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0F8F96DE-702D-D581-D5D6-2EA2862CB4BD}"/>
              </a:ext>
            </a:extLst>
          </p:cNvPr>
          <p:cNvSpPr/>
          <p:nvPr/>
        </p:nvSpPr>
        <p:spPr>
          <a:xfrm>
            <a:off x="665910" y="3353347"/>
            <a:ext cx="2344153" cy="20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Environmental Protection</a:t>
            </a:r>
            <a:endParaRPr lang="en-US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B9910A7-F33A-D02B-53F4-4A5AB3224D17}"/>
              </a:ext>
            </a:extLst>
          </p:cNvPr>
          <p:cNvSpPr/>
          <p:nvPr/>
        </p:nvSpPr>
        <p:spPr>
          <a:xfrm>
            <a:off x="665910" y="3693154"/>
            <a:ext cx="5179719" cy="67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600" dirty="0"/>
              <a:t>Lower fuel use = reduced </a:t>
            </a:r>
            <a:r>
              <a:rPr lang="en-US" sz="1600" b="1" dirty="0"/>
              <a:t>CO₂ emissions</a:t>
            </a:r>
            <a:r>
              <a:rPr lang="en-US" sz="1600" dirty="0"/>
              <a:t>, contributing to greener shipping.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7AE9F81-E171-9672-3D6C-CC9B10633C8F}"/>
              </a:ext>
            </a:extLst>
          </p:cNvPr>
          <p:cNvSpPr/>
          <p:nvPr/>
        </p:nvSpPr>
        <p:spPr>
          <a:xfrm>
            <a:off x="1490653" y="6201573"/>
            <a:ext cx="9439285" cy="160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latin typeface="Geist" pitchFamily="34" charset="0"/>
                <a:ea typeface="Geist" pitchFamily="34" charset="-122"/>
                <a:cs typeface="Geist" pitchFamily="34" charset="-120"/>
              </a:rPr>
              <a:t>This AI solution represents a significant step towards a more intelligent, efficient, and environmentally responsible Indian Navy.</a:t>
            </a: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BB3506-6DBF-5E19-49B6-8079A974ADD4}"/>
              </a:ext>
            </a:extLst>
          </p:cNvPr>
          <p:cNvGrpSpPr/>
          <p:nvPr/>
        </p:nvGrpSpPr>
        <p:grpSpPr>
          <a:xfrm>
            <a:off x="324897" y="291560"/>
            <a:ext cx="785493" cy="936332"/>
            <a:chOff x="0" y="0"/>
            <a:chExt cx="1245108" cy="1702943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746F1548-DBF1-AAD0-1B66-4ECCE743D87D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" b="-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1590658-B67C-53BC-FFAC-8AA8BB6B7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3148" y="7744636"/>
            <a:ext cx="1654688" cy="3478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3A33E7B-393E-E306-8F98-70271DADF093}"/>
              </a:ext>
            </a:extLst>
          </p:cNvPr>
          <p:cNvGrpSpPr/>
          <p:nvPr/>
        </p:nvGrpSpPr>
        <p:grpSpPr>
          <a:xfrm>
            <a:off x="10607467" y="262935"/>
            <a:ext cx="1715681" cy="757093"/>
            <a:chOff x="8476343" y="-4252894"/>
            <a:chExt cx="3189732" cy="1716355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D7EAFFD6-8BB1-9496-2B0C-B943122A03A8}"/>
                </a:ext>
              </a:extLst>
            </p:cNvPr>
            <p:cNvSpPr/>
            <p:nvPr/>
          </p:nvSpPr>
          <p:spPr>
            <a:xfrm>
              <a:off x="8476343" y="-4252894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984F3F8-7924-9903-9ED8-3B703FCB29F8}"/>
              </a:ext>
            </a:extLst>
          </p:cNvPr>
          <p:cNvSpPr txBox="1"/>
          <p:nvPr/>
        </p:nvSpPr>
        <p:spPr>
          <a:xfrm>
            <a:off x="577231" y="4206654"/>
            <a:ext cx="464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⚙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FDB8C-B2C5-6FAE-D1F4-AC2F04C5F74F}"/>
              </a:ext>
            </a:extLst>
          </p:cNvPr>
          <p:cNvSpPr txBox="1"/>
          <p:nvPr/>
        </p:nvSpPr>
        <p:spPr>
          <a:xfrm>
            <a:off x="613437" y="4668319"/>
            <a:ext cx="510156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ist Bold"/>
              </a:rPr>
              <a:t>Social/National Security</a:t>
            </a:r>
          </a:p>
          <a:p>
            <a:r>
              <a:rPr lang="en-US" sz="1600" dirty="0"/>
              <a:t>Improves Indian Navy efficiency, reduces downtime, and prevents spread of invasive species. </a:t>
            </a:r>
            <a:endParaRPr lang="en-US" dirty="0">
              <a:latin typeface="Geist" panose="020B0604020202020204" charset="0"/>
              <a:ea typeface="Geist" panose="020B0604020202020204" charset="0"/>
              <a:cs typeface="Geist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4DBF0-BB45-84BC-EEC9-FEEE39945F06}"/>
              </a:ext>
            </a:extLst>
          </p:cNvPr>
          <p:cNvSpPr txBox="1"/>
          <p:nvPr/>
        </p:nvSpPr>
        <p:spPr>
          <a:xfrm>
            <a:off x="7036376" y="4280784"/>
            <a:ext cx="40658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 Bold" panose="02020804030307010803" pitchFamily="18" charset="0"/>
              </a:rPr>
              <a:t>Analogy:  </a:t>
            </a:r>
          </a:p>
          <a:p>
            <a:r>
              <a:rPr lang="en-US" sz="1600" dirty="0"/>
              <a:t>“Just like a thin layer of mud on a bicycle wheel makes pedaling harder, a thin layer of marine fouling on a ship’s hull drastically increases drag and fuel usage. Our solution acts like a self-cleaning inspection system for ships.” </a:t>
            </a:r>
            <a:endParaRPr lang="en-US" dirty="0"/>
          </a:p>
        </p:txBody>
      </p:sp>
      <p:sp>
        <p:nvSpPr>
          <p:cNvPr id="26" name="Frame 25">
            <a:extLst>
              <a:ext uri="{FF2B5EF4-FFF2-40B4-BE49-F238E27FC236}">
                <a16:creationId xmlns:a16="http://schemas.microsoft.com/office/drawing/2014/main" id="{364FAE96-EDC7-1447-FC67-251748FD36AC}"/>
              </a:ext>
            </a:extLst>
          </p:cNvPr>
          <p:cNvSpPr/>
          <p:nvPr/>
        </p:nvSpPr>
        <p:spPr>
          <a:xfrm>
            <a:off x="6810165" y="4088070"/>
            <a:ext cx="4625631" cy="2003649"/>
          </a:xfrm>
          <a:prstGeom prst="fram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5823F-2281-3DA7-2033-24E0A861522D}"/>
              </a:ext>
            </a:extLst>
          </p:cNvPr>
          <p:cNvSpPr txBox="1"/>
          <p:nvPr/>
        </p:nvSpPr>
        <p:spPr>
          <a:xfrm>
            <a:off x="6759419" y="1498863"/>
            <a:ext cx="472712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Garamond Bold" panose="02020804030307010803" pitchFamily="18" charset="0"/>
              </a:rPr>
              <a:t>Benefits of the Solution Efficiency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Automated detection reduces inspection time from days → minutes.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Cost-effectiveness: Open-source AI → low deployment cost.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Scalability: Modular pipeline → usable for Navy, shipping, and offshore platforms.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Long-term Value: Reduces maintenance frequency, fuel bills, and emissions.</a:t>
            </a:r>
          </a:p>
        </p:txBody>
      </p:sp>
    </p:spTree>
    <p:extLst>
      <p:ext uri="{BB962C8B-B14F-4D97-AF65-F5344CB8AC3E}">
        <p14:creationId xmlns:p14="http://schemas.microsoft.com/office/powerpoint/2010/main" val="15562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3C45-7372-C1E1-09CD-9622DEAEE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83" y="54585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Garamond Bold" panose="02020804030307010803" pitchFamily="18" charset="0"/>
              </a:rPr>
              <a:t>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279AD4-A29E-8D09-BF35-F6D7075E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355" y="907145"/>
            <a:ext cx="31677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aramond Bold" panose="02020804030307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aramond Bold" panose="02020804030307010803" pitchFamily="18" charset="0"/>
              </a:rPr>
              <a:t>References for Marine Fouling Detection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4BD8F-A034-EDCB-29BB-ECFCFFC1EF8A}"/>
              </a:ext>
            </a:extLst>
          </p:cNvPr>
          <p:cNvSpPr txBox="1"/>
          <p:nvPr/>
        </p:nvSpPr>
        <p:spPr>
          <a:xfrm>
            <a:off x="1128683" y="1830475"/>
            <a:ext cx="101614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Cao, H. Zhou, J. Zhang, and Y. Zhang, “Marine biofouling detection and recognition based on deep learning,”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150489–150499, 2020.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P. F. Sammarco, M. J. Risk, and A. C. Brown, “Marine fouling and its prevention: An overview,”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Oceanography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30, no. 1, pp. 54–63, 2017.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Z. Zhang, Y. Liu, and X. Wang, “Deep convolutional neural networks for underwater image classification,”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Image Processing (ICIP)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Beijing, China, 2017, pp. 1230–1234.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Oliveira, M. Almeida, and P. F. Silva, “Biofouling detection in underwater surfaces using computer vision techniques,”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OCEANS 2019 – Marseille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Marseille, France, 2019, pp. 1–6.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M. S. Couceiro, F. M. L. Martins, and R. P. Rocha, “Vision-based biofouling detection for autonomous underwater vehicles,”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Oceans 2016 – Shanghai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Shanghai, China, 2016, pp. 1–7.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Krizhevsky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Sutskever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E. Hinton, “ImageNet classification with deep convolutional neural networks,”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Advances in Neural Information Processing Systems (NIPS)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Lake Tahoe, NV, USA, 2012, pp. 1097–1105.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93C853-0A43-7724-C25E-29E33051C837}"/>
              </a:ext>
            </a:extLst>
          </p:cNvPr>
          <p:cNvGrpSpPr/>
          <p:nvPr/>
        </p:nvGrpSpPr>
        <p:grpSpPr>
          <a:xfrm>
            <a:off x="283354" y="83696"/>
            <a:ext cx="785493" cy="936332"/>
            <a:chOff x="0" y="0"/>
            <a:chExt cx="1245108" cy="1702943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C985AB89-B8CA-E841-B9A1-733F2837F8CB}"/>
                </a:ext>
              </a:extLst>
            </p:cNvPr>
            <p:cNvSpPr/>
            <p:nvPr/>
          </p:nvSpPr>
          <p:spPr>
            <a:xfrm>
              <a:off x="0" y="0"/>
              <a:ext cx="1245108" cy="1702943"/>
            </a:xfrm>
            <a:custGeom>
              <a:avLst/>
              <a:gdLst/>
              <a:ahLst/>
              <a:cxnLst/>
              <a:rect l="l" t="t" r="r" b="b"/>
              <a:pathLst>
                <a:path w="1245108" h="1702943">
                  <a:moveTo>
                    <a:pt x="0" y="0"/>
                  </a:moveTo>
                  <a:lnTo>
                    <a:pt x="1245108" y="0"/>
                  </a:lnTo>
                  <a:lnTo>
                    <a:pt x="1245108" y="1702943"/>
                  </a:lnTo>
                  <a:lnTo>
                    <a:pt x="0" y="170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" b="-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6C4021-2F33-FE39-0FB5-E3F41291B864}"/>
              </a:ext>
            </a:extLst>
          </p:cNvPr>
          <p:cNvGrpSpPr/>
          <p:nvPr/>
        </p:nvGrpSpPr>
        <p:grpSpPr>
          <a:xfrm>
            <a:off x="10599516" y="167307"/>
            <a:ext cx="1715681" cy="757093"/>
            <a:chOff x="8476343" y="-4252894"/>
            <a:chExt cx="3189732" cy="1716355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BF8DF2F-78F2-50EE-989F-B82FF82FC603}"/>
                </a:ext>
              </a:extLst>
            </p:cNvPr>
            <p:cNvSpPr/>
            <p:nvPr/>
          </p:nvSpPr>
          <p:spPr>
            <a:xfrm>
              <a:off x="8476343" y="-4252894"/>
              <a:ext cx="3189732" cy="1716355"/>
            </a:xfrm>
            <a:custGeom>
              <a:avLst/>
              <a:gdLst/>
              <a:ahLst/>
              <a:cxnLst/>
              <a:rect l="l" t="t" r="r" b="b"/>
              <a:pathLst>
                <a:path w="3189732" h="1716355">
                  <a:moveTo>
                    <a:pt x="0" y="0"/>
                  </a:moveTo>
                  <a:lnTo>
                    <a:pt x="3189732" y="0"/>
                  </a:lnTo>
                  <a:lnTo>
                    <a:pt x="3189732" y="1716355"/>
                  </a:lnTo>
                  <a:lnTo>
                    <a:pt x="0" y="171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1040" r="-1" b="-610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515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E9BA2-A687-3835-295C-70F1147D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148" y="7744636"/>
            <a:ext cx="1922712" cy="404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70880C-7A1B-D8F0-4D11-2920C54D4A00}"/>
              </a:ext>
            </a:extLst>
          </p:cNvPr>
          <p:cNvSpPr txBox="1"/>
          <p:nvPr/>
        </p:nvSpPr>
        <p:spPr>
          <a:xfrm>
            <a:off x="535004" y="2338814"/>
            <a:ext cx="7305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effectLst/>
                <a:latin typeface="Garamond Bold" panose="02020804030307010803" pitchFamily="18" charset="0"/>
              </a:rPr>
              <a:t>Thank You</a:t>
            </a:r>
          </a:p>
          <a:p>
            <a:r>
              <a:rPr lang="en-US" dirty="0">
                <a:effectLst/>
                <a:latin typeface="Garamond Bold" panose="02020804030307010803" pitchFamily="18" charset="0"/>
              </a:rPr>
              <a:t>We appreciate your attention and interest in our innovative marine fouling AI solution. We look forward to advancing naval capabilities together.</a:t>
            </a:r>
          </a:p>
          <a:p>
            <a:endParaRPr lang="en-US" dirty="0">
              <a:latin typeface="Garamond Bold" panose="02020804030307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99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995</Words>
  <Application>Microsoft Office PowerPoint</Application>
  <PresentationFormat>Widescreen</PresentationFormat>
  <Paragraphs>91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Garamond Bold</vt:lpstr>
      <vt:lpstr>Geist</vt:lpstr>
      <vt:lpstr>Geist Bold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TECHNICAL APPROACH 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pachadeaniket@gmail.com</dc:creator>
  <cp:lastModifiedBy>pachadeaniket@gmail.com</cp:lastModifiedBy>
  <cp:revision>6</cp:revision>
  <dcterms:created xsi:type="dcterms:W3CDTF">2025-09-19T05:54:50Z</dcterms:created>
  <dcterms:modified xsi:type="dcterms:W3CDTF">2025-09-19T09:38:58Z</dcterms:modified>
</cp:coreProperties>
</file>